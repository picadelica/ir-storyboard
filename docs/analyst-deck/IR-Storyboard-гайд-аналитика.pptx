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71600"/>
            <a:ext cx="2926080" cy="310896"/>
          </a:xfrm>
          <a:prstGeom prst="roundRect">
            <a:avLst>
              <a:gd name="adj" fmla="val 11765"/>
            </a:avLst>
          </a:prstGeom>
          <a:solidFill>
            <a:srgbClr val="2E4150"/>
          </a:solidFill>
          <a:ln/>
        </p:spPr>
      </p:sp>
      <p:sp>
        <p:nvSpPr>
          <p:cNvPr id="3" name="Shape 1"/>
          <p:cNvSpPr/>
          <p:nvPr/>
        </p:nvSpPr>
        <p:spPr>
          <a:xfrm>
            <a:off x="8394192" y="1874520"/>
            <a:ext cx="2834640" cy="310896"/>
          </a:xfrm>
          <a:prstGeom prst="roundRect">
            <a:avLst>
              <a:gd name="adj" fmla="val 11765"/>
            </a:avLst>
          </a:prstGeom>
          <a:solidFill>
            <a:srgbClr val="0E8A8A"/>
          </a:solidFill>
          <a:ln/>
        </p:spPr>
      </p:sp>
      <p:sp>
        <p:nvSpPr>
          <p:cNvPr id="4" name="Shape 2"/>
          <p:cNvSpPr/>
          <p:nvPr/>
        </p:nvSpPr>
        <p:spPr>
          <a:xfrm>
            <a:off x="8558784" y="2377440"/>
            <a:ext cx="2743200" cy="310896"/>
          </a:xfrm>
          <a:prstGeom prst="roundRect">
            <a:avLst>
              <a:gd name="adj" fmla="val 11765"/>
            </a:avLst>
          </a:prstGeom>
          <a:solidFill>
            <a:srgbClr val="2E4150"/>
          </a:solidFill>
          <a:ln/>
        </p:spPr>
      </p:sp>
      <p:sp>
        <p:nvSpPr>
          <p:cNvPr id="5" name="Shape 3"/>
          <p:cNvSpPr/>
          <p:nvPr/>
        </p:nvSpPr>
        <p:spPr>
          <a:xfrm>
            <a:off x="8723376" y="2880360"/>
            <a:ext cx="2651760" cy="310896"/>
          </a:xfrm>
          <a:prstGeom prst="roundRect">
            <a:avLst>
              <a:gd name="adj" fmla="val 11765"/>
            </a:avLst>
          </a:prstGeom>
          <a:solidFill>
            <a:srgbClr val="0E8A8A"/>
          </a:solidFill>
          <a:ln/>
        </p:spPr>
      </p:sp>
      <p:sp>
        <p:nvSpPr>
          <p:cNvPr id="6" name="Shape 4"/>
          <p:cNvSpPr/>
          <p:nvPr/>
        </p:nvSpPr>
        <p:spPr>
          <a:xfrm>
            <a:off x="8887968" y="3383280"/>
            <a:ext cx="2560320" cy="310896"/>
          </a:xfrm>
          <a:prstGeom prst="roundRect">
            <a:avLst>
              <a:gd name="adj" fmla="val 11765"/>
            </a:avLst>
          </a:prstGeom>
          <a:solidFill>
            <a:srgbClr val="2E4150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0" y="3886200"/>
            <a:ext cx="2468880" cy="310896"/>
          </a:xfrm>
          <a:prstGeom prst="roundRect">
            <a:avLst>
              <a:gd name="adj" fmla="val 11765"/>
            </a:avLst>
          </a:prstGeom>
          <a:solidFill>
            <a:srgbClr val="0E8A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STORYBOARD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Гайд для аналитика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построено и как этим пользоваться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" y="4114800"/>
            <a:ext cx="2194560" cy="0"/>
          </a:xfrm>
          <a:prstGeom prst="line">
            <a:avLst/>
          </a:prstGeom>
          <a:noFill/>
          <a:ln w="31750">
            <a:solidFill>
              <a:srgbClr val="0E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Персистентная нарративная матрица + контур доверия к фактам.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Голые факты, со ссылкой, подтверждённые аналитиком.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ИДЕЯ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Две опоры инструмента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Storyboard ведёт по каждому клиенту живую картину — и держит её честной.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697480"/>
            <a:ext cx="566928" cy="566928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961" y="28448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743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Матрица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слоёв близости × 3 подсекции = 24 ячейки.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личной истории фаундера до PEST-контекста — единая картина клиента.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факт тегирован: подтверждён / чувствителен / пробел.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46520" y="22860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0" y="2697480"/>
            <a:ext cx="566928" cy="566928"/>
          </a:xfrm>
          <a:prstGeom prst="ellipse">
            <a:avLst/>
          </a:prstGeom>
          <a:solidFill>
            <a:srgbClr val="2E7D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401" y="28448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7432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Доверие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903720" y="3566160"/>
            <a:ext cx="4434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матрицу попадают только проверенные факты со ссылкой.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второй LLM-моделью ловит склейку сущностей и выдумку.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Голые факты, не эмоции. Решение всегда за аналитиком.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Четыре зоны — где что лежит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548640" cy="54864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47436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50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60120" y="3108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— карточка компании.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— нарративная матрица.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93008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23317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694" y="24743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350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813048" y="3108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LLM-отчёт · YouTube · Audio · Research · Work — наполнение фактами.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45936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65976" y="2331720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622" y="24743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51776" y="2350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665976" y="3108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· Punch-list · Проверка фактов · Interview Qs — качество.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98864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18904" y="2331720"/>
            <a:ext cx="548640" cy="548640"/>
          </a:xfrm>
          <a:prstGeom prst="ellipse">
            <a:avLst/>
          </a:prstGeom>
          <a:solidFill>
            <a:srgbClr val="2E7D5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50" y="247436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04704" y="23500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518904" y="3108960"/>
            <a:ext cx="1965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· Artifacts · Plan — артефакты для NotebookLM и клиента.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Вверху справа: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(справочник методики) и переключатель Analyst / Present (режим показа клиенту).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НАРРАТИВНАЯ МАТРИЦА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слоёв близости × 3 подсекции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Концентрические слои близости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личной истории фаундера (центр) до политико-экономического контекста (край). В каждом слое — 3 подсекции, всего 24 ячейки.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обязателен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онлайн-факт без ссылки или сниппета не принимается. YouTube/аудио закреплены цитатой и таймкодом.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9659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0" y="2167128"/>
            <a:ext cx="548640" cy="548640"/>
          </a:xfrm>
          <a:prstGeom prst="ellipse">
            <a:avLst/>
          </a:prstGeom>
          <a:solidFill>
            <a:srgbClr val="2E7D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26" y="2309774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26680" y="2130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подтверждённый факт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нейтральный/позитивный, со ссылкой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31089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040880" y="331012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526" y="3452774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26680" y="3273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чувствительный факт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72668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эмоциональное ядро; требует обоснования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66560" y="42519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4453128"/>
            <a:ext cx="548640" cy="548640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526" y="459577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26680" y="44165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— явный пробел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26680" y="4782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ещё нужно узнать (process, не отчёт)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факты попадают в матрицу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30352" cy="530352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12" y="2423892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LLM-отчёт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deep-research .docx: факты + цитаты + источники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93008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13048" y="2286000"/>
            <a:ext cx="530352" cy="530352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940" y="242389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813048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транскрипт → факт с цитатой и таймкодом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45936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65976" y="2286000"/>
            <a:ext cx="530352" cy="530352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868" y="2423892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65976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665976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интервью → транскрипт → факты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98864" y="19659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18904" y="2286000"/>
            <a:ext cx="530352" cy="530352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796" y="2423892"/>
            <a:ext cx="254569" cy="2545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18904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518904" y="33375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веб-поиск (Tavily) по запросу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5720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60120" y="4846320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521" y="4993721"/>
            <a:ext cx="272125" cy="2721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373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Ворота на входе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737360" y="51937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Непроверенное или похожее на «двойника» придерживается на ревью — в матрицу автоматом не попадает. Сначала факт, потом доверие.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ДОВЕРИЯ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→ «Проверка фактов»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04288"/>
            <a:ext cx="512064" cy="512064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825" y="243742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32688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 склейки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32688" y="35204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LLM-модель, скептик: ловит, где факт про другое лицо/компанию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93008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85616" y="2304288"/>
            <a:ext cx="512064" cy="512064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753" y="24374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785616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Веб-проверка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3785616" y="35204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грунтованный вердикт: confirmed / refuted / unresolved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45936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38544" y="2304288"/>
            <a:ext cx="512064" cy="512064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681" y="243742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7473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638544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Дедуп и слияние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638544" y="35204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околодубли → один факт; больше независимых источников = сильнее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198864" y="20116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491472" y="2304288"/>
            <a:ext cx="512064" cy="512064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609" y="2437425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2766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3E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491472" y="29260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Якорь идентичности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9491472" y="35204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карточки: компания, фаундеры, двойники — точка опоры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Подозрительные факты помечаются — аналитик решает: снять или оставить. Транскриптные факты (цитата+таймкод) не трогаются.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Поймай Хачуяна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3646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148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gonka.AI → Health → «Проверка фактов» → «Запустить проверку».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65960" y="26974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~30 секунд увидишь: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9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Артур Хачуян приписан как фаундер Gonka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склейка с другим публичным лицом (реальные основатели — братья Либерман).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настолько нелепый, что виден сразу.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4572000"/>
            <a:ext cx="10927080" cy="1554480"/>
          </a:xfrm>
          <a:prstGeom prst="roundRect">
            <a:avLst>
              <a:gd name="adj" fmla="val 4706"/>
            </a:avLst>
          </a:prstGeom>
          <a:solidFill>
            <a:srgbClr val="22333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сделать:  </a:t>
            </a:r>
            <a:pPr indent="0" marL="0">
              <a:buNone/>
            </a:pPr>
            <a:r>
              <a:rPr lang="en-US" sz="1450" dirty="0">
                <a:solidFill>
                  <a:srgbClr val="D7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сними кластер Хачуяна (кнопка «снять») — досье и гайд интервью сразу станут честнее.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0584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мы это оставили: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предлагает — решает аналитик. Мы намеренно не чистили данные: доверяй, но проверяй каждый факт по ссылке.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КОМПАНИИ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— бизнес-профиль, без нарратива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Шесть бизнес-секций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423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 и каналы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24612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/ майлстоны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рынок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40690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2194560"/>
            <a:ext cx="512064" cy="512064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9385" y="2327697"/>
            <a:ext cx="245791" cy="24579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223760" y="219456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Руками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56248" y="274320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«+ факт» в любой секции: значение + дата + ссылка-источник. Есть ссылка → факт verified. Плюс ссылки первоисточников и правка заголовка.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3794760"/>
            <a:ext cx="528523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56248" y="402336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385" y="4156497"/>
            <a:ext cx="245791" cy="24579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223760" y="402336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Авто-наполнить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6556248" y="4572000"/>
            <a:ext cx="4736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источника: уже собранное + веб-поиск + вставленный документ/URL.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факты с реальной ссылкой (механический фильтр) — выдумка отбрасывается.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Предложения → ты отмечаешь нужное → коммит. 100% уверенность.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754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ГАЙД ИНТЕРВЬЮ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90472" y="713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Грунтован на проверенной матрице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5778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530352" cy="530352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012" y="2378172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вопрос опирается на факт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0632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8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вопросом — «основано на N факт(ах)»: видно, на чём он держится.</a:t>
            </a:r>
            <a:endParaRPr lang="en-US" sz="138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8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выдумывает чисел/имён — чего нет в фактах, спрашивает у фаундера.</a:t>
            </a:r>
            <a:endParaRPr lang="en-US" sz="1380" dirty="0"/>
          </a:p>
          <a:p>
            <a:pPr marL="342900" indent="-3429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80" dirty="0">
                <a:solidFill>
                  <a:srgbClr val="2C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прыгают в ячейки матрицы — закрываешь пробел на месте.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6583680" y="196596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16222E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гайда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27432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Досье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фаундер и компания — сжато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Диагноз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покрыто, что зияет, приоритеты
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Дуги близости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E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по слоям + follow-ups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5440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Замкнутая петля: почистил матрицу → гайд авто-улучшается.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ЦИКЛ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Шесть шагов аналитика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75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Выбери клиента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8745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075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39512" y="20116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Наполни: ingest + About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10144" y="18745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2075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24544" y="20116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факты, сними двойников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472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Сгенерируй гайд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32461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4472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39512" y="33832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Веди интервью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10144" y="3246120"/>
            <a:ext cx="3456432" cy="1143000"/>
          </a:xfrm>
          <a:prstGeom prst="roundRect">
            <a:avLst>
              <a:gd name="adj" fmla="val 4800"/>
            </a:avLst>
          </a:prstGeom>
          <a:solidFill>
            <a:srgbClr val="22333F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34472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24544" y="338328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2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артефакты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0E8A8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983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Дисциплина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A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проверенные факты, со ссылкой · аудит — второе мнение · аналитик подтверждает · голые факты, не эмоции.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Доступ: по логину Telegram-группы · прод на сервере агентства.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Storyboard — гайд для аналитика</dc:title>
  <dc:subject>PptxGenJS Presentation</dc:subject>
  <dc:creator>IR Storyboard</dc:creator>
  <cp:lastModifiedBy>IR Storyboard</cp:lastModifiedBy>
  <cp:revision>1</cp:revision>
  <dcterms:created xsi:type="dcterms:W3CDTF">2026-06-21T10:28:52Z</dcterms:created>
  <dcterms:modified xsi:type="dcterms:W3CDTF">2026-06-21T10:28:52Z</dcterms:modified>
</cp:coreProperties>
</file>